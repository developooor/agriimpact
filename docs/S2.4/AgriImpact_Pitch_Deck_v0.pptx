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Imaginez un agriculteur qui doit raconter à nouveau son exploitation à chaque nouveau projet. Ses terres, ses activités et ses échanges avec le conseiller existent, mais restent dispersés. AgriImpact propose de relier ces informations pour préparer la suite sans perdre la mémoire du passé. Voici notre prototype de démonstration. [25 secondes]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point de départ est simple : préparer un projet demande de rapprocher le profil du demandeur, sa terre, son historique et les hypothèses de l’activité. Puis il faut conserver le suivi. Quand ces éléments sont dispersés, l’agriculteur et le conseiller doivent reconstituer le contexte. Notre proposition répond à cette rupture de continuité. [30 secondes]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 démonstration, Youssef ouvre son espace. Il retrouve trois portes d’entrée : son historique, la banque de projets et les aides. Le conseiller affecté est visible. L’historique relie les années et les projets. Il ne s’agit pas seulement de stocker une fiche : nous voulons conserver une mémoire utilisable lors du prochain échange. [30 secondes]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Youssef explore ensuite un projet d’olivier. Pour l’exemple Arbequina, il distingue l’investissement initial du compte d’exploitation en année trois. Le solde apparaît avant les détails. Les montants fournis sont identifiés comme des hypothèses ; ils ne sont pas une promesse de résultat. Les aides FDA sont examinées selon leurs critères, sans les présenter comme acquises. [35 secondes]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valeur apparaît au passage de relais. Youssef confirme une demande préremplie. Une copie des données de sa simulation est conservée. Salma retrouve cette demande et la prend en charge. Elle peut enrichir le dossier documentaire. Cette prise en charge ne vaut pas accord de crédit : la décision reste externe, puis peut être déposée comme document. [35 secondes]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parcours fonctionne aujourd’hui dans un prototype local avec des données fictives. Il ne transmet rien à une agence réelle. Les validations Compliance et IT sont en attente. Avant un usage réel, il faudra sécuriser les accès, centraliser le stockage, valider les référentiels et raccorder les systèmes. Nous distinguons clairement la preuve du parcours de la préparation à la production. [30 secondes]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axe business est l’efficacité de l’accompagnement. L’hypothèse est de réduire la reconstitution du contexte, d’améliorer la continuité et de rendre les prochaines actions plus claires. Aucun gain n’est encore mesuré. Le pilote devra comparer le temps de préparation, la complétude des dossiers et le délai de prise en charge. La valeur client et la capitalisation de l’expertise complètent cet axe. [30 secondes]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demandons de cadrer un pilote avec les référents métier, Compliance et IT, puis de tester le parcours avec des utilisateurs représentatifs. L’objectif est de vérifier la compréhension des chiffres, la confiance et le passage de relais au conseiller. Notre conviction : un projet agricole doit pouvoir avancer sans que sa mémoire se perde. Nous sommes prêts à vos questions. [25 secondes]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Un projet agricole ne devrait pas</a:t>
            </a:r>
          </a:p>
          <a:p>
            <a:pPr>
              <a:spcAft>
                <a:spcPts val="1000"/>
              </a:spcAft>
              <a:defRPr sz="3200" b="1">
                <a:solidFill>
                  <a:srgbClr val="005122"/>
                </a:solidFill>
                <a:latin typeface="Calibri"/>
              </a:defRPr>
            </a:pPr>
            <a:r>
              <a:t>repartir de zéro.</a:t>
            </a:r>
          </a:p>
        </p:txBody>
      </p:sp>
      <p:sp>
        <p:nvSpPr>
          <p:cNvPr id="4" name="TextBox 3"/>
          <p:cNvSpPr txBox="1"/>
          <p:nvPr/>
        </p:nvSpPr>
        <p:spPr>
          <a:xfrm>
            <a:off x="576072" y="1965960"/>
            <a:ext cx="10972800" cy="548640"/>
          </a:xfrm>
          <a:prstGeom prst="rect">
            <a:avLst/>
          </a:prstGeom>
          <a:noFill/>
        </p:spPr>
        <p:txBody>
          <a:bodyPr wrap="square">
            <a:spAutoFit/>
          </a:bodyPr>
          <a:lstStyle/>
          <a:p>
            <a:pPr>
              <a:spcAft>
                <a:spcPts val="1000"/>
              </a:spcAft>
              <a:defRPr sz="1700" b="0">
                <a:solidFill>
                  <a:srgbClr val="506156"/>
                </a:solidFill>
                <a:latin typeface="Calibri"/>
              </a:defRPr>
            </a:pPr>
            <a:r>
              <a:t>AgriImpact relie l’agriculteur, son exploitation et son conseiller.</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1/8</a:t>
            </a:r>
          </a:p>
        </p:txBody>
      </p:sp>
      <p:sp>
        <p:nvSpPr>
          <p:cNvPr id="8" name="Rounded Rectangle 7"/>
          <p:cNvSpPr/>
          <p:nvPr/>
        </p:nvSpPr>
        <p:spPr>
          <a:xfrm>
            <a:off x="640080" y="2560320"/>
            <a:ext cx="10881360" cy="2423160"/>
          </a:xfrm>
          <a:prstGeom prst="roundRect">
            <a:avLst/>
          </a:prstGeom>
          <a:solidFill>
            <a:srgbClr val="0051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80360"/>
            <a:ext cx="10058400" cy="1371600"/>
          </a:xfrm>
          <a:prstGeom prst="rect">
            <a:avLst/>
          </a:prstGeom>
          <a:noFill/>
        </p:spPr>
        <p:txBody>
          <a:bodyPr wrap="square">
            <a:spAutoFit/>
          </a:bodyPr>
          <a:lstStyle/>
          <a:p>
            <a:pPr>
              <a:spcAft>
                <a:spcPts val="1000"/>
              </a:spcAft>
              <a:defRPr sz="3200" b="1">
                <a:solidFill>
                  <a:srgbClr val="FFFFFF"/>
                </a:solidFill>
                <a:latin typeface="Calibri"/>
              </a:defRPr>
            </a:pPr>
            <a:r>
              <a:t>Comprendre le passé.</a:t>
            </a:r>
          </a:p>
          <a:p>
            <a:pPr>
              <a:spcAft>
                <a:spcPts val="1000"/>
              </a:spcAft>
              <a:defRPr sz="3200" b="1">
                <a:solidFill>
                  <a:srgbClr val="FFFFFF"/>
                </a:solidFill>
                <a:latin typeface="Calibri"/>
              </a:defRPr>
            </a:pPr>
            <a:r>
              <a:t>Préparer le projet. Accompagner la suite.</a:t>
            </a:r>
          </a:p>
        </p:txBody>
      </p:sp>
      <p:sp>
        <p:nvSpPr>
          <p:cNvPr id="10" name="TextBox 9"/>
          <p:cNvSpPr txBox="1"/>
          <p:nvPr/>
        </p:nvSpPr>
        <p:spPr>
          <a:xfrm>
            <a:off x="731520" y="5394960"/>
            <a:ext cx="10789920" cy="548640"/>
          </a:xfrm>
          <a:prstGeom prst="rect">
            <a:avLst/>
          </a:prstGeom>
          <a:noFill/>
        </p:spPr>
        <p:txBody>
          <a:bodyPr wrap="square">
            <a:spAutoFit/>
          </a:bodyPr>
          <a:lstStyle/>
          <a:p>
            <a:pPr>
              <a:spcAft>
                <a:spcPts val="1000"/>
              </a:spcAft>
              <a:defRPr sz="2200" b="0">
                <a:solidFill>
                  <a:srgbClr val="005122"/>
                </a:solidFill>
                <a:latin typeface="Calibri"/>
              </a:defRPr>
            </a:pPr>
            <a:r>
              <a:t>Un parcours partagé, de la simulation au suivi documentaire.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Le projet avance. L’information se disperse.</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Un problème de continuité, pour l’agriculteur comme pour le conseiller.</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2/8</a:t>
            </a:r>
          </a:p>
        </p:txBody>
      </p:sp>
      <p:sp>
        <p:nvSpPr>
          <p:cNvPr id="8" name="Rounded Rectangle 7"/>
          <p:cNvSpPr/>
          <p:nvPr/>
        </p:nvSpPr>
        <p:spPr>
          <a:xfrm>
            <a:off x="640080" y="2560320"/>
            <a:ext cx="333756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761488"/>
            <a:ext cx="2743200" cy="365760"/>
          </a:xfrm>
          <a:prstGeom prst="rect">
            <a:avLst/>
          </a:prstGeom>
          <a:noFill/>
        </p:spPr>
        <p:txBody>
          <a:bodyPr wrap="square">
            <a:spAutoFit/>
          </a:bodyPr>
          <a:lstStyle/>
          <a:p>
            <a:pPr>
              <a:spcAft>
                <a:spcPts val="1000"/>
              </a:spcAft>
              <a:defRPr sz="1500" b="1">
                <a:solidFill>
                  <a:srgbClr val="007732"/>
                </a:solidFill>
                <a:latin typeface="Calibri"/>
              </a:defRPr>
            </a:pPr>
            <a:r>
              <a:t>01</a:t>
            </a:r>
          </a:p>
        </p:txBody>
      </p:sp>
      <p:sp>
        <p:nvSpPr>
          <p:cNvPr id="10" name="TextBox 9"/>
          <p:cNvSpPr txBox="1"/>
          <p:nvPr/>
        </p:nvSpPr>
        <p:spPr>
          <a:xfrm>
            <a:off x="841247" y="3337560"/>
            <a:ext cx="2926080" cy="457200"/>
          </a:xfrm>
          <a:prstGeom prst="rect">
            <a:avLst/>
          </a:prstGeom>
          <a:noFill/>
        </p:spPr>
        <p:txBody>
          <a:bodyPr wrap="square">
            <a:spAutoFit/>
          </a:bodyPr>
          <a:lstStyle/>
          <a:p>
            <a:pPr>
              <a:spcAft>
                <a:spcPts val="1000"/>
              </a:spcAft>
              <a:defRPr sz="2500" b="1">
                <a:solidFill>
                  <a:srgbClr val="005122"/>
                </a:solidFill>
                <a:latin typeface="Calibri"/>
              </a:defRPr>
            </a:pPr>
            <a:r>
              <a:t>Comprendre</a:t>
            </a:r>
          </a:p>
        </p:txBody>
      </p:sp>
      <p:sp>
        <p:nvSpPr>
          <p:cNvPr id="11" name="TextBox 10"/>
          <p:cNvSpPr txBox="1"/>
          <p:nvPr/>
        </p:nvSpPr>
        <p:spPr>
          <a:xfrm>
            <a:off x="841247" y="3977639"/>
            <a:ext cx="2880360" cy="1005840"/>
          </a:xfrm>
          <a:prstGeom prst="rect">
            <a:avLst/>
          </a:prstGeom>
          <a:noFill/>
        </p:spPr>
        <p:txBody>
          <a:bodyPr wrap="square">
            <a:spAutoFit/>
          </a:bodyPr>
          <a:lstStyle/>
          <a:p>
            <a:pPr>
              <a:spcAft>
                <a:spcPts val="1000"/>
              </a:spcAft>
              <a:defRPr sz="2000" b="0">
                <a:solidFill>
                  <a:srgbClr val="506156"/>
                </a:solidFill>
                <a:latin typeface="Calibri"/>
              </a:defRPr>
            </a:pPr>
            <a:r>
              <a:t>Profil, terres, activités et ressources à rapprocher.</a:t>
            </a:r>
          </a:p>
        </p:txBody>
      </p:sp>
      <p:sp>
        <p:nvSpPr>
          <p:cNvPr id="12" name="Rounded Rectangle 11"/>
          <p:cNvSpPr/>
          <p:nvPr/>
        </p:nvSpPr>
        <p:spPr>
          <a:xfrm>
            <a:off x="4434840" y="2560320"/>
            <a:ext cx="333756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761488"/>
            <a:ext cx="2743200" cy="365760"/>
          </a:xfrm>
          <a:prstGeom prst="rect">
            <a:avLst/>
          </a:prstGeom>
          <a:noFill/>
        </p:spPr>
        <p:txBody>
          <a:bodyPr wrap="square">
            <a:spAutoFit/>
          </a:bodyPr>
          <a:lstStyle/>
          <a:p>
            <a:pPr>
              <a:spcAft>
                <a:spcPts val="1000"/>
              </a:spcAft>
              <a:defRPr sz="1500" b="1">
                <a:solidFill>
                  <a:srgbClr val="007732"/>
                </a:solidFill>
                <a:latin typeface="Calibri"/>
              </a:defRPr>
            </a:pPr>
            <a:r>
              <a:t>02</a:t>
            </a:r>
          </a:p>
        </p:txBody>
      </p:sp>
      <p:sp>
        <p:nvSpPr>
          <p:cNvPr id="14" name="TextBox 13"/>
          <p:cNvSpPr txBox="1"/>
          <p:nvPr/>
        </p:nvSpPr>
        <p:spPr>
          <a:xfrm>
            <a:off x="4636007" y="3337560"/>
            <a:ext cx="2926080" cy="457200"/>
          </a:xfrm>
          <a:prstGeom prst="rect">
            <a:avLst/>
          </a:prstGeom>
          <a:noFill/>
        </p:spPr>
        <p:txBody>
          <a:bodyPr wrap="square">
            <a:spAutoFit/>
          </a:bodyPr>
          <a:lstStyle/>
          <a:p>
            <a:pPr>
              <a:spcAft>
                <a:spcPts val="1000"/>
              </a:spcAft>
              <a:defRPr sz="2500" b="1">
                <a:solidFill>
                  <a:srgbClr val="005122"/>
                </a:solidFill>
                <a:latin typeface="Calibri"/>
              </a:defRPr>
            </a:pPr>
            <a:r>
              <a:t>Préparer</a:t>
            </a:r>
          </a:p>
        </p:txBody>
      </p:sp>
      <p:sp>
        <p:nvSpPr>
          <p:cNvPr id="15" name="TextBox 14"/>
          <p:cNvSpPr txBox="1"/>
          <p:nvPr/>
        </p:nvSpPr>
        <p:spPr>
          <a:xfrm>
            <a:off x="4636007" y="3977639"/>
            <a:ext cx="2880360" cy="1005840"/>
          </a:xfrm>
          <a:prstGeom prst="rect">
            <a:avLst/>
          </a:prstGeom>
          <a:noFill/>
        </p:spPr>
        <p:txBody>
          <a:bodyPr wrap="square">
            <a:spAutoFit/>
          </a:bodyPr>
          <a:lstStyle/>
          <a:p>
            <a:pPr>
              <a:spcAft>
                <a:spcPts val="1000"/>
              </a:spcAft>
              <a:defRPr sz="2000" b="0">
                <a:solidFill>
                  <a:srgbClr val="506156"/>
                </a:solidFill>
                <a:latin typeface="Calibri"/>
              </a:defRPr>
            </a:pPr>
            <a:r>
              <a:t>Hypothèses économiques et aides à examiner ensemble.</a:t>
            </a:r>
          </a:p>
        </p:txBody>
      </p:sp>
      <p:sp>
        <p:nvSpPr>
          <p:cNvPr id="16" name="Rounded Rectangle 15"/>
          <p:cNvSpPr/>
          <p:nvPr/>
        </p:nvSpPr>
        <p:spPr>
          <a:xfrm>
            <a:off x="8229600" y="2560320"/>
            <a:ext cx="333756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2761488"/>
            <a:ext cx="2743200" cy="365760"/>
          </a:xfrm>
          <a:prstGeom prst="rect">
            <a:avLst/>
          </a:prstGeom>
          <a:noFill/>
        </p:spPr>
        <p:txBody>
          <a:bodyPr wrap="square">
            <a:spAutoFit/>
          </a:bodyPr>
          <a:lstStyle/>
          <a:p>
            <a:pPr>
              <a:spcAft>
                <a:spcPts val="1000"/>
              </a:spcAft>
              <a:defRPr sz="1500" b="1">
                <a:solidFill>
                  <a:srgbClr val="007732"/>
                </a:solidFill>
                <a:latin typeface="Calibri"/>
              </a:defRPr>
            </a:pPr>
            <a:r>
              <a:t>03</a:t>
            </a:r>
          </a:p>
        </p:txBody>
      </p:sp>
      <p:sp>
        <p:nvSpPr>
          <p:cNvPr id="18" name="TextBox 17"/>
          <p:cNvSpPr txBox="1"/>
          <p:nvPr/>
        </p:nvSpPr>
        <p:spPr>
          <a:xfrm>
            <a:off x="8430768" y="3337560"/>
            <a:ext cx="2926080" cy="457200"/>
          </a:xfrm>
          <a:prstGeom prst="rect">
            <a:avLst/>
          </a:prstGeom>
          <a:noFill/>
        </p:spPr>
        <p:txBody>
          <a:bodyPr wrap="square">
            <a:spAutoFit/>
          </a:bodyPr>
          <a:lstStyle/>
          <a:p>
            <a:pPr>
              <a:spcAft>
                <a:spcPts val="1000"/>
              </a:spcAft>
              <a:defRPr sz="2500" b="1">
                <a:solidFill>
                  <a:srgbClr val="005122"/>
                </a:solidFill>
                <a:latin typeface="Calibri"/>
              </a:defRPr>
            </a:pPr>
            <a:r>
              <a:t>Suivre</a:t>
            </a:r>
          </a:p>
        </p:txBody>
      </p:sp>
      <p:sp>
        <p:nvSpPr>
          <p:cNvPr id="19" name="TextBox 18"/>
          <p:cNvSpPr txBox="1"/>
          <p:nvPr/>
        </p:nvSpPr>
        <p:spPr>
          <a:xfrm>
            <a:off x="8430768" y="3977639"/>
            <a:ext cx="2880360" cy="1005840"/>
          </a:xfrm>
          <a:prstGeom prst="rect">
            <a:avLst/>
          </a:prstGeom>
          <a:noFill/>
        </p:spPr>
        <p:txBody>
          <a:bodyPr wrap="square">
            <a:spAutoFit/>
          </a:bodyPr>
          <a:lstStyle/>
          <a:p>
            <a:pPr>
              <a:spcAft>
                <a:spcPts val="1000"/>
              </a:spcAft>
              <a:defRPr sz="2000" b="0">
                <a:solidFill>
                  <a:srgbClr val="506156"/>
                </a:solidFill>
                <a:latin typeface="Calibri"/>
              </a:defRPr>
            </a:pPr>
            <a:r>
              <a:t>Demandes, visites et pièces à retrouver dans le temps.</a:t>
            </a:r>
          </a:p>
        </p:txBody>
      </p:sp>
      <p:sp>
        <p:nvSpPr>
          <p:cNvPr id="20" name="TextBox 19"/>
          <p:cNvSpPr txBox="1"/>
          <p:nvPr/>
        </p:nvSpPr>
        <p:spPr>
          <a:xfrm>
            <a:off x="731520" y="5669280"/>
            <a:ext cx="10515600" cy="365760"/>
          </a:xfrm>
          <a:prstGeom prst="rect">
            <a:avLst/>
          </a:prstGeom>
          <a:noFill/>
        </p:spPr>
        <p:txBody>
          <a:bodyPr wrap="square">
            <a:spAutoFit/>
          </a:bodyPr>
          <a:lstStyle/>
          <a:p>
            <a:pPr>
              <a:spcAft>
                <a:spcPts val="1000"/>
              </a:spcAft>
              <a:defRPr sz="2100" b="0">
                <a:solidFill>
                  <a:srgbClr val="005122"/>
                </a:solidFill>
                <a:latin typeface="Calibri"/>
              </a:defRPr>
            </a:pPr>
            <a:r>
              <a:t>Enjeu : conserver le contexte et rendre la prochaine action compréhensible.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Youssef retrouve son exploitation.</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Persona fictif : un agriculteur accompagné par Salma, sa conseillère.</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3/8</a:t>
            </a:r>
          </a:p>
        </p:txBody>
      </p:sp>
      <p:pic>
        <p:nvPicPr>
          <p:cNvPr id="8" name="Picture 7" descr="slide-01-accueil.png"/>
          <p:cNvPicPr>
            <a:picLocks noChangeAspect="1"/>
          </p:cNvPicPr>
          <p:nvPr/>
        </p:nvPicPr>
        <p:blipFill>
          <a:blip r:embed="rId2"/>
          <a:stretch>
            <a:fillRect/>
          </a:stretch>
        </p:blipFill>
        <p:spPr>
          <a:xfrm>
            <a:off x="640080" y="2423160"/>
            <a:ext cx="7543800" cy="3876675"/>
          </a:xfrm>
          <a:prstGeom prst="rect">
            <a:avLst/>
          </a:prstGeom>
        </p:spPr>
      </p:pic>
      <p:sp>
        <p:nvSpPr>
          <p:cNvPr id="9" name="TextBox 8"/>
          <p:cNvSpPr txBox="1"/>
          <p:nvPr/>
        </p:nvSpPr>
        <p:spPr>
          <a:xfrm>
            <a:off x="8549640" y="2651760"/>
            <a:ext cx="2971800" cy="502920"/>
          </a:xfrm>
          <a:prstGeom prst="rect">
            <a:avLst/>
          </a:prstGeom>
          <a:noFill/>
        </p:spPr>
        <p:txBody>
          <a:bodyPr wrap="square">
            <a:spAutoFit/>
          </a:bodyPr>
          <a:lstStyle/>
          <a:p>
            <a:pPr>
              <a:spcAft>
                <a:spcPts val="1000"/>
              </a:spcAft>
              <a:defRPr sz="2300" b="1">
                <a:solidFill>
                  <a:srgbClr val="005122"/>
                </a:solidFill>
                <a:latin typeface="Calibri"/>
              </a:defRPr>
            </a:pPr>
            <a:r>
              <a:t>Trois portes d’entrée</a:t>
            </a:r>
          </a:p>
        </p:txBody>
      </p:sp>
      <p:sp>
        <p:nvSpPr>
          <p:cNvPr id="10" name="TextBox 9"/>
          <p:cNvSpPr txBox="1"/>
          <p:nvPr/>
        </p:nvSpPr>
        <p:spPr>
          <a:xfrm>
            <a:off x="8549640" y="3291840"/>
            <a:ext cx="2880360" cy="2377440"/>
          </a:xfrm>
          <a:prstGeom prst="rect">
            <a:avLst/>
          </a:prstGeom>
          <a:noFill/>
        </p:spPr>
        <p:txBody>
          <a:bodyPr wrap="square">
            <a:spAutoFit/>
          </a:bodyPr>
          <a:lstStyle/>
          <a:p>
            <a:pPr>
              <a:spcAft>
                <a:spcPts val="1000"/>
              </a:spcAft>
              <a:defRPr sz="2200" b="0">
                <a:solidFill>
                  <a:srgbClr val="506156"/>
                </a:solidFill>
                <a:latin typeface="Calibri"/>
              </a:defRPr>
            </a:pPr>
            <a:r>
              <a:t>Historique d’exploitation</a:t>
            </a:r>
          </a:p>
          <a:p>
            <a:pPr>
              <a:spcAft>
                <a:spcPts val="1000"/>
              </a:spcAft>
              <a:defRPr sz="2200" b="0">
                <a:solidFill>
                  <a:srgbClr val="506156"/>
                </a:solidFill>
                <a:latin typeface="Calibri"/>
              </a:defRPr>
            </a:pPr>
            <a:r>
              <a:t>Banque de projets</a:t>
            </a:r>
          </a:p>
          <a:p>
            <a:pPr>
              <a:spcAft>
                <a:spcPts val="1000"/>
              </a:spcAft>
              <a:defRPr sz="2200" b="0">
                <a:solidFill>
                  <a:srgbClr val="506156"/>
                </a:solidFill>
                <a:latin typeface="Calibri"/>
              </a:defRPr>
            </a:pPr>
            <a:r>
              <a:t>Subventions et aides</a:t>
            </a:r>
          </a:p>
        </p:txBody>
      </p:sp>
      <p:sp>
        <p:nvSpPr>
          <p:cNvPr id="11" name="TextBox 10"/>
          <p:cNvSpPr txBox="1"/>
          <p:nvPr/>
        </p:nvSpPr>
        <p:spPr>
          <a:xfrm>
            <a:off x="8549640" y="5486400"/>
            <a:ext cx="2834640" cy="548640"/>
          </a:xfrm>
          <a:prstGeom prst="rect">
            <a:avLst/>
          </a:prstGeom>
          <a:noFill/>
        </p:spPr>
        <p:txBody>
          <a:bodyPr wrap="square">
            <a:spAutoFit/>
          </a:bodyPr>
          <a:lstStyle/>
          <a:p>
            <a:pPr>
              <a:spcAft>
                <a:spcPts val="1000"/>
              </a:spcAft>
              <a:defRPr sz="1700" b="0">
                <a:solidFill>
                  <a:srgbClr val="005122"/>
                </a:solidFill>
                <a:latin typeface="Calibri"/>
              </a:defRPr>
            </a:pPr>
            <a:r>
              <a:t>Son conseiller reste identifié.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Une simulation pour ouvrir la discussion.</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Exemple fourni : Olivier Arbequina, 1 hectare irrigué. Hypothèses à confirmer.</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4/8</a:t>
            </a:r>
          </a:p>
        </p:txBody>
      </p:sp>
      <p:pic>
        <p:nvPicPr>
          <p:cNvPr id="8" name="Picture 7" descr="slide-05-exploitation.png"/>
          <p:cNvPicPr>
            <a:picLocks noChangeAspect="1"/>
          </p:cNvPicPr>
          <p:nvPr/>
        </p:nvPicPr>
        <p:blipFill>
          <a:blip r:embed="rId2"/>
          <a:stretch>
            <a:fillRect/>
          </a:stretch>
        </p:blipFill>
        <p:spPr>
          <a:xfrm>
            <a:off x="640080" y="2423160"/>
            <a:ext cx="7543800" cy="3876675"/>
          </a:xfrm>
          <a:prstGeom prst="rect">
            <a:avLst/>
          </a:prstGeom>
        </p:spPr>
      </p:pic>
      <p:sp>
        <p:nvSpPr>
          <p:cNvPr id="9" name="TextBox 8"/>
          <p:cNvSpPr txBox="1"/>
          <p:nvPr/>
        </p:nvSpPr>
        <p:spPr>
          <a:xfrm>
            <a:off x="8549640" y="2651760"/>
            <a:ext cx="2926080" cy="548640"/>
          </a:xfrm>
          <a:prstGeom prst="rect">
            <a:avLst/>
          </a:prstGeom>
          <a:noFill/>
        </p:spPr>
        <p:txBody>
          <a:bodyPr wrap="square">
            <a:spAutoFit/>
          </a:bodyPr>
          <a:lstStyle/>
          <a:p>
            <a:pPr>
              <a:spcAft>
                <a:spcPts val="1000"/>
              </a:spcAft>
              <a:defRPr sz="2300" b="1">
                <a:solidFill>
                  <a:srgbClr val="005122"/>
                </a:solidFill>
                <a:latin typeface="Calibri"/>
              </a:defRPr>
            </a:pPr>
            <a:r>
              <a:t>Année 0 / Année 3</a:t>
            </a:r>
          </a:p>
        </p:txBody>
      </p:sp>
      <p:sp>
        <p:nvSpPr>
          <p:cNvPr id="10" name="TextBox 9"/>
          <p:cNvSpPr txBox="1"/>
          <p:nvPr/>
        </p:nvSpPr>
        <p:spPr>
          <a:xfrm>
            <a:off x="8549640" y="3291840"/>
            <a:ext cx="2926080" cy="1737360"/>
          </a:xfrm>
          <a:prstGeom prst="rect">
            <a:avLst/>
          </a:prstGeom>
          <a:noFill/>
        </p:spPr>
        <p:txBody>
          <a:bodyPr wrap="square">
            <a:spAutoFit/>
          </a:bodyPr>
          <a:lstStyle/>
          <a:p>
            <a:pPr>
              <a:spcAft>
                <a:spcPts val="1000"/>
              </a:spcAft>
              <a:defRPr sz="2200" b="0">
                <a:solidFill>
                  <a:srgbClr val="506156"/>
                </a:solidFill>
                <a:latin typeface="Calibri"/>
              </a:defRPr>
            </a:pPr>
            <a:r>
              <a:t>Solde en premier</a:t>
            </a:r>
          </a:p>
          <a:p>
            <a:pPr>
              <a:spcAft>
                <a:spcPts val="1000"/>
              </a:spcAft>
              <a:defRPr sz="2200" b="0">
                <a:solidFill>
                  <a:srgbClr val="506156"/>
                </a:solidFill>
                <a:latin typeface="Calibri"/>
              </a:defRPr>
            </a:pPr>
            <a:r>
              <a:t>Entrées et sorties</a:t>
            </a:r>
          </a:p>
          <a:p>
            <a:pPr>
              <a:spcAft>
                <a:spcPts val="1000"/>
              </a:spcAft>
              <a:defRPr sz="2200" b="0">
                <a:solidFill>
                  <a:srgbClr val="506156"/>
                </a:solidFill>
                <a:latin typeface="Calibri"/>
              </a:defRPr>
            </a:pPr>
            <a:r>
              <a:t>Détail dépliable</a:t>
            </a:r>
          </a:p>
        </p:txBody>
      </p:sp>
      <p:sp>
        <p:nvSpPr>
          <p:cNvPr id="11" name="TextBox 10"/>
          <p:cNvSpPr txBox="1"/>
          <p:nvPr/>
        </p:nvSpPr>
        <p:spPr>
          <a:xfrm>
            <a:off x="8549640" y="5212080"/>
            <a:ext cx="2880360" cy="868680"/>
          </a:xfrm>
          <a:prstGeom prst="rect">
            <a:avLst/>
          </a:prstGeom>
          <a:noFill/>
        </p:spPr>
        <p:txBody>
          <a:bodyPr wrap="square">
            <a:spAutoFit/>
          </a:bodyPr>
          <a:lstStyle/>
          <a:p>
            <a:pPr>
              <a:spcAft>
                <a:spcPts val="1000"/>
              </a:spcAft>
              <a:defRPr sz="1800" b="0">
                <a:solidFill>
                  <a:srgbClr val="005122"/>
                </a:solidFill>
                <a:latin typeface="Calibri"/>
              </a:defRPr>
            </a:pPr>
            <a:r>
              <a:t>Aides conditionnelles.</a:t>
            </a:r>
          </a:p>
          <a:p>
            <a:pPr>
              <a:spcAft>
                <a:spcPts val="1000"/>
              </a:spcAft>
              <a:defRPr sz="1800" b="0">
                <a:solidFill>
                  <a:srgbClr val="005122"/>
                </a:solidFill>
                <a:latin typeface="Calibri"/>
              </a:defRPr>
            </a:pPr>
            <a:r>
              <a:t>Aucun bénéfice garanti.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La simulation devient une demande suivie.</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La conseillère retrouve le contexte envoyé, sans confondre accompagnement et crédit.</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5/8</a:t>
            </a:r>
          </a:p>
        </p:txBody>
      </p:sp>
      <p:pic>
        <p:nvPicPr>
          <p:cNvPr id="8" name="Picture 7" descr="slide-10-prise-en-charge.png"/>
          <p:cNvPicPr>
            <a:picLocks noChangeAspect="1"/>
          </p:cNvPicPr>
          <p:nvPr/>
        </p:nvPicPr>
        <p:blipFill>
          <a:blip r:embed="rId2"/>
          <a:stretch>
            <a:fillRect/>
          </a:stretch>
        </p:blipFill>
        <p:spPr>
          <a:xfrm>
            <a:off x="640080" y="2423160"/>
            <a:ext cx="7543800" cy="3876675"/>
          </a:xfrm>
          <a:prstGeom prst="rect">
            <a:avLst/>
          </a:prstGeom>
        </p:spPr>
      </p:pic>
      <p:sp>
        <p:nvSpPr>
          <p:cNvPr id="9" name="TextBox 8"/>
          <p:cNvSpPr txBox="1"/>
          <p:nvPr/>
        </p:nvSpPr>
        <p:spPr>
          <a:xfrm>
            <a:off x="8549640" y="2606040"/>
            <a:ext cx="2926080" cy="548640"/>
          </a:xfrm>
          <a:prstGeom prst="rect">
            <a:avLst/>
          </a:prstGeom>
          <a:noFill/>
        </p:spPr>
        <p:txBody>
          <a:bodyPr wrap="square">
            <a:spAutoFit/>
          </a:bodyPr>
          <a:lstStyle/>
          <a:p>
            <a:pPr>
              <a:spcAft>
                <a:spcPts val="1000"/>
              </a:spcAft>
              <a:defRPr sz="2300" b="1">
                <a:solidFill>
                  <a:srgbClr val="005122"/>
                </a:solidFill>
                <a:latin typeface="Calibri"/>
              </a:defRPr>
            </a:pPr>
            <a:r>
              <a:t>Youssef → Salma</a:t>
            </a:r>
          </a:p>
        </p:txBody>
      </p:sp>
      <p:sp>
        <p:nvSpPr>
          <p:cNvPr id="10" name="TextBox 9"/>
          <p:cNvSpPr txBox="1"/>
          <p:nvPr/>
        </p:nvSpPr>
        <p:spPr>
          <a:xfrm>
            <a:off x="8549640" y="3291840"/>
            <a:ext cx="2880360" cy="2194560"/>
          </a:xfrm>
          <a:prstGeom prst="rect">
            <a:avLst/>
          </a:prstGeom>
          <a:noFill/>
        </p:spPr>
        <p:txBody>
          <a:bodyPr wrap="square">
            <a:spAutoFit/>
          </a:bodyPr>
          <a:lstStyle/>
          <a:p>
            <a:pPr>
              <a:spcAft>
                <a:spcPts val="1000"/>
              </a:spcAft>
              <a:defRPr sz="2100" b="0">
                <a:solidFill>
                  <a:srgbClr val="506156"/>
                </a:solidFill>
                <a:latin typeface="Calibri"/>
              </a:defRPr>
            </a:pPr>
            <a:r>
              <a:t>Copie des données</a:t>
            </a:r>
          </a:p>
          <a:p>
            <a:pPr>
              <a:spcAft>
                <a:spcPts val="1000"/>
              </a:spcAft>
              <a:defRPr sz="2100" b="0">
                <a:solidFill>
                  <a:srgbClr val="506156"/>
                </a:solidFill>
                <a:latin typeface="Calibri"/>
              </a:defRPr>
            </a:pPr>
            <a:r>
              <a:t>Demande enregistrée</a:t>
            </a:r>
          </a:p>
          <a:p>
            <a:pPr>
              <a:spcAft>
                <a:spcPts val="1000"/>
              </a:spcAft>
              <a:defRPr sz="2100" b="0">
                <a:solidFill>
                  <a:srgbClr val="506156"/>
                </a:solidFill>
                <a:latin typeface="Calibri"/>
              </a:defRPr>
            </a:pPr>
            <a:r>
              <a:t>Prise en charge</a:t>
            </a:r>
          </a:p>
          <a:p>
            <a:pPr>
              <a:spcAft>
                <a:spcPts val="1000"/>
              </a:spcAft>
              <a:defRPr sz="2100" b="0">
                <a:solidFill>
                  <a:srgbClr val="506156"/>
                </a:solidFill>
                <a:latin typeface="Calibri"/>
              </a:defRPr>
            </a:pPr>
            <a:r>
              <a:t>Pièces et comptes rendus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Un POC démontrable, un périmètre assumé.</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Les validations expertes restent en attente ; aucune gate n’est déclarée soldée.</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6/8</a:t>
            </a:r>
          </a:p>
        </p:txBody>
      </p:sp>
      <p:sp>
        <p:nvSpPr>
          <p:cNvPr id="8" name="Rounded Rectangle 7"/>
          <p:cNvSpPr/>
          <p:nvPr/>
        </p:nvSpPr>
        <p:spPr>
          <a:xfrm>
            <a:off x="640080" y="2560320"/>
            <a:ext cx="5303520" cy="3017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2560320"/>
            <a:ext cx="5303520" cy="3017520"/>
          </a:xfrm>
          <a:prstGeom prst="roundRect">
            <a:avLst/>
          </a:prstGeom>
          <a:solidFill>
            <a:srgbClr val="E6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4709160" cy="457200"/>
          </a:xfrm>
          <a:prstGeom prst="rect">
            <a:avLst/>
          </a:prstGeom>
          <a:noFill/>
        </p:spPr>
        <p:txBody>
          <a:bodyPr wrap="square">
            <a:spAutoFit/>
          </a:bodyPr>
          <a:lstStyle/>
          <a:p>
            <a:pPr>
              <a:spcAft>
                <a:spcPts val="1000"/>
              </a:spcAft>
              <a:defRPr sz="2300" b="1">
                <a:solidFill>
                  <a:srgbClr val="005122"/>
                </a:solidFill>
                <a:latin typeface="Calibri"/>
              </a:defRPr>
            </a:pPr>
            <a:r>
              <a:t>Démontré dans le prototype</a:t>
            </a:r>
          </a:p>
        </p:txBody>
      </p:sp>
      <p:sp>
        <p:nvSpPr>
          <p:cNvPr id="11" name="TextBox 10"/>
          <p:cNvSpPr txBox="1"/>
          <p:nvPr/>
        </p:nvSpPr>
        <p:spPr>
          <a:xfrm>
            <a:off x="914400" y="3429000"/>
            <a:ext cx="4709160" cy="1920240"/>
          </a:xfrm>
          <a:prstGeom prst="rect">
            <a:avLst/>
          </a:prstGeom>
          <a:noFill/>
        </p:spPr>
        <p:txBody>
          <a:bodyPr wrap="square">
            <a:spAutoFit/>
          </a:bodyPr>
          <a:lstStyle/>
          <a:p>
            <a:pPr>
              <a:spcAft>
                <a:spcPts val="1000"/>
              </a:spcAft>
              <a:defRPr sz="2100" b="0">
                <a:solidFill>
                  <a:srgbClr val="506156"/>
                </a:solidFill>
                <a:latin typeface="Calibri"/>
              </a:defRPr>
            </a:pPr>
            <a:r>
              <a:t>Profils et historique fictifs</a:t>
            </a:r>
          </a:p>
          <a:p>
            <a:pPr>
              <a:spcAft>
                <a:spcPts val="1000"/>
              </a:spcAft>
              <a:defRPr sz="2100" b="0">
                <a:solidFill>
                  <a:srgbClr val="506156"/>
                </a:solidFill>
                <a:latin typeface="Calibri"/>
              </a:defRPr>
            </a:pPr>
            <a:r>
              <a:t>Simulations enregistrées et PDF</a:t>
            </a:r>
          </a:p>
          <a:p>
            <a:pPr>
              <a:spcAft>
                <a:spcPts val="1000"/>
              </a:spcAft>
              <a:defRPr sz="2100" b="0">
                <a:solidFill>
                  <a:srgbClr val="506156"/>
                </a:solidFill>
                <a:latin typeface="Calibri"/>
              </a:defRPr>
            </a:pPr>
            <a:r>
              <a:t>Demande → prise en charge</a:t>
            </a:r>
          </a:p>
          <a:p>
            <a:pPr>
              <a:spcAft>
                <a:spcPts val="1000"/>
              </a:spcAft>
              <a:defRPr sz="2100" b="0">
                <a:solidFill>
                  <a:srgbClr val="506156"/>
                </a:solidFill>
                <a:latin typeface="Calibri"/>
              </a:defRPr>
            </a:pPr>
            <a:r>
              <a:t>Documents de démonstration</a:t>
            </a:r>
          </a:p>
        </p:txBody>
      </p:sp>
      <p:sp>
        <p:nvSpPr>
          <p:cNvPr id="12" name="TextBox 11"/>
          <p:cNvSpPr txBox="1"/>
          <p:nvPr/>
        </p:nvSpPr>
        <p:spPr>
          <a:xfrm>
            <a:off x="6492240" y="2788920"/>
            <a:ext cx="4663440" cy="457200"/>
          </a:xfrm>
          <a:prstGeom prst="rect">
            <a:avLst/>
          </a:prstGeom>
          <a:noFill/>
        </p:spPr>
        <p:txBody>
          <a:bodyPr wrap="square">
            <a:spAutoFit/>
          </a:bodyPr>
          <a:lstStyle/>
          <a:p>
            <a:pPr>
              <a:spcAft>
                <a:spcPts val="1000"/>
              </a:spcAft>
              <a:defRPr sz="2300" b="1">
                <a:solidFill>
                  <a:srgbClr val="005122"/>
                </a:solidFill>
                <a:latin typeface="Calibri"/>
              </a:defRPr>
            </a:pPr>
            <a:r>
              <a:t>Avant tout usage réel</a:t>
            </a:r>
          </a:p>
        </p:txBody>
      </p:sp>
      <p:sp>
        <p:nvSpPr>
          <p:cNvPr id="13" name="TextBox 12"/>
          <p:cNvSpPr txBox="1"/>
          <p:nvPr/>
        </p:nvSpPr>
        <p:spPr>
          <a:xfrm>
            <a:off x="6492240" y="3429000"/>
            <a:ext cx="4663440" cy="1920240"/>
          </a:xfrm>
          <a:prstGeom prst="rect">
            <a:avLst/>
          </a:prstGeom>
          <a:noFill/>
        </p:spPr>
        <p:txBody>
          <a:bodyPr wrap="square">
            <a:spAutoFit/>
          </a:bodyPr>
          <a:lstStyle/>
          <a:p>
            <a:pPr>
              <a:spcAft>
                <a:spcPts val="1000"/>
              </a:spcAft>
              <a:defRPr sz="2100" b="0">
                <a:solidFill>
                  <a:srgbClr val="506156"/>
                </a:solidFill>
                <a:latin typeface="Calibri"/>
              </a:defRPr>
            </a:pPr>
            <a:r>
              <a:t>Authentification et droits serveur</a:t>
            </a:r>
          </a:p>
          <a:p>
            <a:pPr>
              <a:spcAft>
                <a:spcPts val="1000"/>
              </a:spcAft>
              <a:defRPr sz="2100" b="0">
                <a:solidFill>
                  <a:srgbClr val="506156"/>
                </a:solidFill>
                <a:latin typeface="Calibri"/>
              </a:defRPr>
            </a:pPr>
            <a:r>
              <a:t>Stockage et traçabilité sécurisés</a:t>
            </a:r>
          </a:p>
          <a:p>
            <a:pPr>
              <a:spcAft>
                <a:spcPts val="1000"/>
              </a:spcAft>
              <a:defRPr sz="2100" b="0">
                <a:solidFill>
                  <a:srgbClr val="506156"/>
                </a:solidFill>
                <a:latin typeface="Calibri"/>
              </a:defRPr>
            </a:pPr>
            <a:r>
              <a:t>Validation métier des règles</a:t>
            </a:r>
          </a:p>
          <a:p>
            <a:pPr>
              <a:spcAft>
                <a:spcPts val="1000"/>
              </a:spcAft>
              <a:defRPr sz="2100" b="0">
                <a:solidFill>
                  <a:srgbClr val="506156"/>
                </a:solidFill>
                <a:latin typeface="Calibri"/>
              </a:defRPr>
            </a:pPr>
            <a:r>
              <a:t>Connexions aux systèmes CAM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Business case : améliorer l’efficacité de l’accompagnement.</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Axe fort proposé — des bénéfices à mesurer, sans ROI inventé.</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7/8</a:t>
            </a:r>
          </a:p>
        </p:txBody>
      </p:sp>
      <p:sp>
        <p:nvSpPr>
          <p:cNvPr id="8" name="Rounded Rectangle 7"/>
          <p:cNvSpPr/>
          <p:nvPr/>
        </p:nvSpPr>
        <p:spPr>
          <a:xfrm>
            <a:off x="640080" y="2651760"/>
            <a:ext cx="333756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834640"/>
            <a:ext cx="2926080" cy="777240"/>
          </a:xfrm>
          <a:prstGeom prst="rect">
            <a:avLst/>
          </a:prstGeom>
          <a:noFill/>
        </p:spPr>
        <p:txBody>
          <a:bodyPr wrap="square">
            <a:spAutoFit/>
          </a:bodyPr>
          <a:lstStyle/>
          <a:p>
            <a:pPr>
              <a:spcAft>
                <a:spcPts val="1000"/>
              </a:spcAft>
              <a:defRPr sz="2300" b="1">
                <a:solidFill>
                  <a:srgbClr val="005122"/>
                </a:solidFill>
                <a:latin typeface="Calibri"/>
              </a:defRPr>
            </a:pPr>
            <a:r>
              <a:t>Moins de reconstitution</a:t>
            </a:r>
          </a:p>
        </p:txBody>
      </p:sp>
      <p:sp>
        <p:nvSpPr>
          <p:cNvPr id="10" name="TextBox 9"/>
          <p:cNvSpPr txBox="1"/>
          <p:nvPr/>
        </p:nvSpPr>
        <p:spPr>
          <a:xfrm>
            <a:off x="822959" y="3703320"/>
            <a:ext cx="2926080" cy="960120"/>
          </a:xfrm>
          <a:prstGeom prst="rect">
            <a:avLst/>
          </a:prstGeom>
          <a:noFill/>
        </p:spPr>
        <p:txBody>
          <a:bodyPr wrap="square">
            <a:spAutoFit/>
          </a:bodyPr>
          <a:lstStyle/>
          <a:p>
            <a:pPr>
              <a:spcAft>
                <a:spcPts val="1000"/>
              </a:spcAft>
              <a:defRPr sz="1800" b="0">
                <a:solidFill>
                  <a:srgbClr val="506156"/>
                </a:solidFill>
                <a:latin typeface="Calibri"/>
              </a:defRPr>
            </a:pPr>
            <a:r>
              <a:t>Retrouver le contexte du demandeur et la copie de sa simulation.</a:t>
            </a:r>
          </a:p>
        </p:txBody>
      </p:sp>
      <p:sp>
        <p:nvSpPr>
          <p:cNvPr id="11" name="Rounded Rectangle 10"/>
          <p:cNvSpPr/>
          <p:nvPr/>
        </p:nvSpPr>
        <p:spPr>
          <a:xfrm>
            <a:off x="4434840" y="2651760"/>
            <a:ext cx="333756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834640"/>
            <a:ext cx="2926080" cy="777240"/>
          </a:xfrm>
          <a:prstGeom prst="rect">
            <a:avLst/>
          </a:prstGeom>
          <a:noFill/>
        </p:spPr>
        <p:txBody>
          <a:bodyPr wrap="square">
            <a:spAutoFit/>
          </a:bodyPr>
          <a:lstStyle/>
          <a:p>
            <a:pPr>
              <a:spcAft>
                <a:spcPts val="1000"/>
              </a:spcAft>
              <a:defRPr sz="2300" b="1">
                <a:solidFill>
                  <a:srgbClr val="005122"/>
                </a:solidFill>
                <a:latin typeface="Calibri"/>
              </a:defRPr>
            </a:pPr>
            <a:r>
              <a:t>Plus de continuité</a:t>
            </a:r>
          </a:p>
        </p:txBody>
      </p:sp>
      <p:sp>
        <p:nvSpPr>
          <p:cNvPr id="13" name="TextBox 12"/>
          <p:cNvSpPr txBox="1"/>
          <p:nvPr/>
        </p:nvSpPr>
        <p:spPr>
          <a:xfrm>
            <a:off x="4617720" y="3703320"/>
            <a:ext cx="2926080" cy="960120"/>
          </a:xfrm>
          <a:prstGeom prst="rect">
            <a:avLst/>
          </a:prstGeom>
          <a:noFill/>
        </p:spPr>
        <p:txBody>
          <a:bodyPr wrap="square">
            <a:spAutoFit/>
          </a:bodyPr>
          <a:lstStyle/>
          <a:p>
            <a:pPr>
              <a:spcAft>
                <a:spcPts val="1000"/>
              </a:spcAft>
              <a:defRPr sz="1800" b="0">
                <a:solidFill>
                  <a:srgbClr val="506156"/>
                </a:solidFill>
                <a:latin typeface="Calibri"/>
              </a:defRPr>
            </a:pPr>
            <a:r>
              <a:t>Conserver l’historique, les pièces et les échanges de suivi.</a:t>
            </a:r>
          </a:p>
        </p:txBody>
      </p:sp>
      <p:sp>
        <p:nvSpPr>
          <p:cNvPr id="14" name="Rounded Rectangle 13"/>
          <p:cNvSpPr/>
          <p:nvPr/>
        </p:nvSpPr>
        <p:spPr>
          <a:xfrm>
            <a:off x="8229600" y="2651760"/>
            <a:ext cx="333756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834640"/>
            <a:ext cx="2926080" cy="777240"/>
          </a:xfrm>
          <a:prstGeom prst="rect">
            <a:avLst/>
          </a:prstGeom>
          <a:noFill/>
        </p:spPr>
        <p:txBody>
          <a:bodyPr wrap="square">
            <a:spAutoFit/>
          </a:bodyPr>
          <a:lstStyle/>
          <a:p>
            <a:pPr>
              <a:spcAft>
                <a:spcPts val="1000"/>
              </a:spcAft>
              <a:defRPr sz="2300" b="1">
                <a:solidFill>
                  <a:srgbClr val="005122"/>
                </a:solidFill>
                <a:latin typeface="Calibri"/>
              </a:defRPr>
            </a:pPr>
            <a:r>
              <a:t>Plus de clarté</a:t>
            </a:r>
          </a:p>
        </p:txBody>
      </p:sp>
      <p:sp>
        <p:nvSpPr>
          <p:cNvPr id="16" name="TextBox 15"/>
          <p:cNvSpPr txBox="1"/>
          <p:nvPr/>
        </p:nvSpPr>
        <p:spPr>
          <a:xfrm>
            <a:off x="8412480" y="3703320"/>
            <a:ext cx="2926080" cy="960120"/>
          </a:xfrm>
          <a:prstGeom prst="rect">
            <a:avLst/>
          </a:prstGeom>
          <a:noFill/>
        </p:spPr>
        <p:txBody>
          <a:bodyPr wrap="square">
            <a:spAutoFit/>
          </a:bodyPr>
          <a:lstStyle/>
          <a:p>
            <a:pPr>
              <a:spcAft>
                <a:spcPts val="1000"/>
              </a:spcAft>
              <a:defRPr sz="1800" b="0">
                <a:solidFill>
                  <a:srgbClr val="506156"/>
                </a:solidFill>
                <a:latin typeface="Calibri"/>
              </a:defRPr>
            </a:pPr>
            <a:r>
              <a:t>Rendre visibles les prochaines actions et les conditions à vérifier.</a:t>
            </a:r>
          </a:p>
        </p:txBody>
      </p:sp>
      <p:sp>
        <p:nvSpPr>
          <p:cNvPr id="17" name="TextBox 16"/>
          <p:cNvSpPr txBox="1"/>
          <p:nvPr/>
        </p:nvSpPr>
        <p:spPr>
          <a:xfrm>
            <a:off x="731520" y="5394960"/>
            <a:ext cx="10789920" cy="685800"/>
          </a:xfrm>
          <a:prstGeom prst="rect">
            <a:avLst/>
          </a:prstGeom>
          <a:noFill/>
        </p:spPr>
        <p:txBody>
          <a:bodyPr wrap="square">
            <a:spAutoFit/>
          </a:bodyPr>
          <a:lstStyle/>
          <a:p>
            <a:pPr>
              <a:spcAft>
                <a:spcPts val="1000"/>
              </a:spcAft>
              <a:defRPr sz="2100" b="0">
                <a:solidFill>
                  <a:srgbClr val="005122"/>
                </a:solidFill>
                <a:latin typeface="Calibri"/>
              </a:defRPr>
            </a:pPr>
            <a:r>
              <a:t>À mesurer en pilote : temps de préparation, complétude des dossiers, délai de prise en charge.</a:t>
            </a:r>
          </a:p>
        </p:txBody>
      </p:sp>
      <p:sp>
        <p:nvSpPr>
          <p:cNvPr id="18" name="TextBox 17"/>
          <p:cNvSpPr txBox="1"/>
          <p:nvPr/>
        </p:nvSpPr>
        <p:spPr>
          <a:xfrm>
            <a:off x="731520" y="6080760"/>
            <a:ext cx="10789920" cy="256032"/>
          </a:xfrm>
          <a:prstGeom prst="rect">
            <a:avLst/>
          </a:prstGeom>
          <a:noFill/>
        </p:spPr>
        <p:txBody>
          <a:bodyPr wrap="square">
            <a:spAutoFit/>
          </a:bodyPr>
          <a:lstStyle/>
          <a:p>
            <a:pPr>
              <a:spcAft>
                <a:spcPts val="1000"/>
              </a:spcAft>
              <a:defRPr sz="1300" b="0">
                <a:solidFill>
                  <a:srgbClr val="506156"/>
                </a:solidFill>
                <a:latin typeface="Calibri"/>
              </a:defRPr>
            </a:pPr>
            <a:r>
              <a:t>ROI : à renseigner après mesure de référence et observation du pilote.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7F3"/>
        </a:solidFill>
        <a:effectLst/>
      </p:bgPr>
    </p:bg>
    <p:spTree>
      <p:nvGrpSpPr>
        <p:cNvPr id="1" name=""/>
        <p:cNvGrpSpPr/>
        <p:nvPr/>
      </p:nvGrpSpPr>
      <p:grpSpPr/>
      <p:sp>
        <p:nvSpPr>
          <p:cNvPr id="2" name="TextBox 1"/>
          <p:cNvSpPr txBox="1"/>
          <p:nvPr/>
        </p:nvSpPr>
        <p:spPr>
          <a:xfrm>
            <a:off x="502920" y="228600"/>
            <a:ext cx="5486400" cy="320040"/>
          </a:xfrm>
          <a:prstGeom prst="rect">
            <a:avLst/>
          </a:prstGeom>
          <a:noFill/>
        </p:spPr>
        <p:txBody>
          <a:bodyPr wrap="square">
            <a:spAutoFit/>
          </a:bodyPr>
          <a:lstStyle/>
          <a:p>
            <a:pPr>
              <a:spcAft>
                <a:spcPts val="1000"/>
              </a:spcAft>
              <a:defRPr sz="1200" b="1">
                <a:solidFill>
                  <a:srgbClr val="007732"/>
                </a:solidFill>
                <a:latin typeface="Calibri"/>
              </a:defRPr>
            </a:pPr>
            <a:r>
              <a:t>AGRIIMPACT  /  PITCH DECK v0</a:t>
            </a:r>
          </a:p>
        </p:txBody>
      </p:sp>
      <p:sp>
        <p:nvSpPr>
          <p:cNvPr id="3" name="TextBox 2"/>
          <p:cNvSpPr txBox="1"/>
          <p:nvPr/>
        </p:nvSpPr>
        <p:spPr>
          <a:xfrm>
            <a:off x="548640" y="777240"/>
            <a:ext cx="10972800" cy="960120"/>
          </a:xfrm>
          <a:prstGeom prst="rect">
            <a:avLst/>
          </a:prstGeom>
          <a:noFill/>
        </p:spPr>
        <p:txBody>
          <a:bodyPr wrap="square">
            <a:spAutoFit/>
          </a:bodyPr>
          <a:lstStyle/>
          <a:p>
            <a:pPr>
              <a:spcAft>
                <a:spcPts val="1000"/>
              </a:spcAft>
              <a:defRPr sz="3200" b="1">
                <a:solidFill>
                  <a:srgbClr val="005122"/>
                </a:solidFill>
                <a:latin typeface="Calibri"/>
              </a:defRPr>
            </a:pPr>
            <a:r>
              <a:t>La prochaine étape : éprouver le parcours sur le terrain.</a:t>
            </a:r>
          </a:p>
        </p:txBody>
      </p:sp>
      <p:sp>
        <p:nvSpPr>
          <p:cNvPr id="4" name="TextBox 3"/>
          <p:cNvSpPr txBox="1"/>
          <p:nvPr/>
        </p:nvSpPr>
        <p:spPr>
          <a:xfrm>
            <a:off x="576072" y="1673352"/>
            <a:ext cx="10972800" cy="548640"/>
          </a:xfrm>
          <a:prstGeom prst="rect">
            <a:avLst/>
          </a:prstGeom>
          <a:noFill/>
        </p:spPr>
        <p:txBody>
          <a:bodyPr wrap="square">
            <a:spAutoFit/>
          </a:bodyPr>
          <a:lstStyle/>
          <a:p>
            <a:pPr>
              <a:spcAft>
                <a:spcPts val="1000"/>
              </a:spcAft>
              <a:defRPr sz="1700" b="0">
                <a:solidFill>
                  <a:srgbClr val="506156"/>
                </a:solidFill>
                <a:latin typeface="Calibri"/>
              </a:defRPr>
            </a:pPr>
            <a:r>
              <a:t>Demande proposée au comité : cadrer un pilote, après les validations nécessaires.</a:t>
            </a:r>
          </a:p>
        </p:txBody>
      </p:sp>
      <p:sp>
        <p:nvSpPr>
          <p:cNvPr id="5" name="Rectangle 4"/>
          <p:cNvSpPr/>
          <p:nvPr/>
        </p:nvSpPr>
        <p:spPr>
          <a:xfrm>
            <a:off x="548640" y="6446520"/>
            <a:ext cx="11064240" cy="13716"/>
          </a:xfrm>
          <a:prstGeom prst="rect">
            <a:avLst/>
          </a:prstGeom>
          <a:solidFill>
            <a:srgbClr val="CCD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058400" cy="228600"/>
          </a:xfrm>
          <a:prstGeom prst="rect">
            <a:avLst/>
          </a:prstGeom>
          <a:noFill/>
        </p:spPr>
        <p:txBody>
          <a:bodyPr wrap="square">
            <a:spAutoFit/>
          </a:bodyPr>
          <a:lstStyle/>
          <a:p>
            <a:pPr>
              <a:spcAft>
                <a:spcPts val="1000"/>
              </a:spcAft>
              <a:defRPr sz="1000" b="0">
                <a:solidFill>
                  <a:srgbClr val="506156"/>
                </a:solidFill>
                <a:latin typeface="Calibri"/>
              </a:defRPr>
            </a:pPr>
            <a:r>
              <a:t>POC local · Données fictives · Validation Compliance et IT en attente</a:t>
            </a:r>
          </a:p>
        </p:txBody>
      </p:sp>
      <p:sp>
        <p:nvSpPr>
          <p:cNvPr id="7" name="TextBox 6"/>
          <p:cNvSpPr txBox="1"/>
          <p:nvPr/>
        </p:nvSpPr>
        <p:spPr>
          <a:xfrm>
            <a:off x="11109960" y="6473952"/>
            <a:ext cx="502920" cy="274320"/>
          </a:xfrm>
          <a:prstGeom prst="rect">
            <a:avLst/>
          </a:prstGeom>
          <a:noFill/>
        </p:spPr>
        <p:txBody>
          <a:bodyPr wrap="square">
            <a:spAutoFit/>
          </a:bodyPr>
          <a:lstStyle/>
          <a:p>
            <a:pPr>
              <a:spcAft>
                <a:spcPts val="1000"/>
              </a:spcAft>
              <a:defRPr sz="1100" b="0">
                <a:solidFill>
                  <a:srgbClr val="506156"/>
                </a:solidFill>
                <a:latin typeface="Calibri"/>
              </a:defRPr>
            </a:pPr>
            <a:r>
              <a:t>8/8</a:t>
            </a:r>
          </a:p>
        </p:txBody>
      </p:sp>
      <p:sp>
        <p:nvSpPr>
          <p:cNvPr id="8" name="Rounded Rectangle 7"/>
          <p:cNvSpPr/>
          <p:nvPr/>
        </p:nvSpPr>
        <p:spPr>
          <a:xfrm>
            <a:off x="685800" y="2606040"/>
            <a:ext cx="10835640" cy="2011680"/>
          </a:xfrm>
          <a:prstGeom prst="roundRect">
            <a:avLst/>
          </a:prstGeom>
          <a:solidFill>
            <a:srgbClr val="0051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52928"/>
            <a:ext cx="10058400" cy="1371600"/>
          </a:xfrm>
          <a:prstGeom prst="rect">
            <a:avLst/>
          </a:prstGeom>
          <a:noFill/>
        </p:spPr>
        <p:txBody>
          <a:bodyPr wrap="square">
            <a:spAutoFit/>
          </a:bodyPr>
          <a:lstStyle/>
          <a:p>
            <a:pPr>
              <a:spcAft>
                <a:spcPts val="1000"/>
              </a:spcAft>
              <a:defRPr sz="2800" b="1">
                <a:solidFill>
                  <a:srgbClr val="FFFFFF"/>
                </a:solidFill>
                <a:latin typeface="Calibri"/>
              </a:defRPr>
            </a:pPr>
            <a:r>
              <a:t>Référents métier + Compliance + IT</a:t>
            </a:r>
          </a:p>
          <a:p>
            <a:pPr>
              <a:spcAft>
                <a:spcPts val="1000"/>
              </a:spcAft>
              <a:defRPr sz="2800" b="1">
                <a:solidFill>
                  <a:srgbClr val="FFFFFF"/>
                </a:solidFill>
                <a:latin typeface="Calibri"/>
              </a:defRPr>
            </a:pPr>
            <a:r>
              <a:t>Utilisateurs représentatifs</a:t>
            </a:r>
          </a:p>
          <a:p>
            <a:pPr>
              <a:spcAft>
                <a:spcPts val="1000"/>
              </a:spcAft>
              <a:defRPr sz="2800" b="1">
                <a:solidFill>
                  <a:srgbClr val="FFFFFF"/>
                </a:solidFill>
                <a:latin typeface="Calibri"/>
              </a:defRPr>
            </a:pPr>
            <a:r>
              <a:t>Critères de réussite partagés</a:t>
            </a:r>
          </a:p>
        </p:txBody>
      </p:sp>
      <p:sp>
        <p:nvSpPr>
          <p:cNvPr id="10" name="TextBox 9"/>
          <p:cNvSpPr txBox="1"/>
          <p:nvPr/>
        </p:nvSpPr>
        <p:spPr>
          <a:xfrm>
            <a:off x="777240" y="5074920"/>
            <a:ext cx="10698480" cy="777240"/>
          </a:xfrm>
          <a:prstGeom prst="rect">
            <a:avLst/>
          </a:prstGeom>
          <a:noFill/>
        </p:spPr>
        <p:txBody>
          <a:bodyPr wrap="square">
            <a:spAutoFit/>
          </a:bodyPr>
          <a:lstStyle/>
          <a:p>
            <a:pPr>
              <a:spcAft>
                <a:spcPts val="1000"/>
              </a:spcAft>
              <a:defRPr sz="2300" b="0">
                <a:solidFill>
                  <a:srgbClr val="005122"/>
                </a:solidFill>
                <a:latin typeface="Calibri"/>
              </a:defRPr>
            </a:pPr>
            <a:r>
              <a:t>Tester la compréhension, la confiance et le passage de relais.</a:t>
            </a:r>
          </a:p>
          <a:p>
            <a:pPr>
              <a:spcAft>
                <a:spcPts val="1000"/>
              </a:spcAft>
              <a:defRPr sz="2300" b="0">
                <a:solidFill>
                  <a:srgbClr val="005122"/>
                </a:solidFill>
                <a:latin typeface="Calibri"/>
              </a:defRPr>
            </a:pPr>
            <a:r>
              <a:t>Puis corriger avant tout déploiement.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